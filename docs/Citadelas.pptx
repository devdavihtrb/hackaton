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embeddedFontLst>
    <p:embeddedFont>
      <p:font typeface="IBM Plex Sans"/>
      <p:regular r:id="rId16"/>
      <p:bold r:id="rId17"/>
      <p:italic r:id="rId18"/>
      <p:boldItalic r:id="rId19"/>
    </p:embeddedFont>
    <p:embeddedFont>
      <p:font typeface="Space Grotesk"/>
      <p:bold r:id="rId20"/>
    </p:embeddedFont>
    <p:embeddedFont>
      <p:font typeface="IBM Plex Sans SemiBold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paceGrotesk-bold.fntdata"/><Relationship Id="rId11" Type="http://schemas.openxmlformats.org/officeDocument/2006/relationships/slide" Target="slides/slide7.xml"/><Relationship Id="rId22" Type="http://schemas.openxmlformats.org/officeDocument/2006/relationships/font" Target="fonts/IBMPlexSansSemiBold-bold.fntdata"/><Relationship Id="rId10" Type="http://schemas.openxmlformats.org/officeDocument/2006/relationships/slide" Target="slides/slide6.xml"/><Relationship Id="rId21" Type="http://schemas.openxmlformats.org/officeDocument/2006/relationships/font" Target="fonts/IBMPlexSansSemiBold-regular.fntdata"/><Relationship Id="rId13" Type="http://schemas.openxmlformats.org/officeDocument/2006/relationships/slide" Target="slides/slide9.xml"/><Relationship Id="rId24" Type="http://schemas.openxmlformats.org/officeDocument/2006/relationships/font" Target="fonts/IBMPlexSansSemiBold-boldItalic.fntdata"/><Relationship Id="rId12" Type="http://schemas.openxmlformats.org/officeDocument/2006/relationships/slide" Target="slides/slide8.xml"/><Relationship Id="rId23" Type="http://schemas.openxmlformats.org/officeDocument/2006/relationships/font" Target="fonts/IBMPlexSansSemiBold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IBMPlexSans-bold.fntdata"/><Relationship Id="rId16" Type="http://schemas.openxmlformats.org/officeDocument/2006/relationships/font" Target="fonts/IBMPlexSans-regular.fntdata"/><Relationship Id="rId5" Type="http://schemas.openxmlformats.org/officeDocument/2006/relationships/slide" Target="slides/slide1.xml"/><Relationship Id="rId19" Type="http://schemas.openxmlformats.org/officeDocument/2006/relationships/font" Target="fonts/IBMPlexSans-boldItalic.fntdata"/><Relationship Id="rId6" Type="http://schemas.openxmlformats.org/officeDocument/2006/relationships/slide" Target="slides/slide2.xml"/><Relationship Id="rId18" Type="http://schemas.openxmlformats.org/officeDocument/2006/relationships/font" Target="fonts/IBMPlexSans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" name="Google Shape;1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Explicação completa: Não comparamos a qualidade nem a quantidade de conhecimento produzido por homens e mulheres. Analisamos como mecanismos que combinam relevância e número de citações podem concentrar visibilidade em artigos já conhecidos. Esse processo pode criar um círculo vicioso: mais visibilidade gera mais leituras e citações, que geram ainda mais visibilidade. O Citadelas complementa essa busca ampliando a descoberta por aderência de conteúdo, sem afirmar que toda busca acadêmica funciona dessa forma.</a:t>
            </a:r>
            <a:br>
              <a:rPr lang="en-US"/>
            </a:br>
            <a:br>
              <a:rPr lang="en-US"/>
            </a:br>
            <a:r>
              <a:rPr lang="en-US"/>
              <a:t>Abrir apresentando o problema metodológico: mecanismos de ranqueamento que combinam relevância e número de citações podem concentrar visibilidade em artigos já conhecidos, criando um círculo vicioso. Não estamos comparando a qualidade ou a quantidade de conhecimento produzido por homens e mulheres. O Citadelas é uma forma complementar de ampliar a descoberta por aderência de conteúdo, sem tratar citações como sinônimo de qualidade.</a:t>
            </a:r>
            <a:endParaRPr/>
          </a:p>
        </p:txBody>
      </p:sp>
      <p:sp>
        <p:nvSpPr>
          <p:cNvPr id="17" name="Google Shape;1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h3802ef07334dbbe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h3802ef07334dbbe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Explicação completa: Não comparamos a qualidade nem a quantidade de conhecimento produzido por homens e mulheres. Analisamos como mecanismos que combinam relevância e número de citações podem concentrar visibilidade em artigos já conhecidos. Esse processo pode criar um círculo vicioso: mais visibilidade gera mais leituras e citações, que geram ainda mais visibilidade. O Citadelas complementa essa busca ampliando a descoberta por aderência de conteúdo, sem afirmar que toda busca acadêmica funciona dessa forma.</a:t>
            </a:r>
            <a:br>
              <a:rPr lang="en-US"/>
            </a:br>
            <a:br>
              <a:rPr lang="en-US"/>
            </a:br>
            <a:r>
              <a:rPr lang="en-US"/>
              <a:t>Abrir apresentando o problema metodológico: mecanismos de ranqueamento que combinam relevância e número de citações podem concentrar visibilidade em artigos já conhecidos, criando um círculo vicioso. Não estamos comparando a qualidade ou a quantidade de conhecimento produzido por homens e mulheres. O Citadelas é uma forma complementar de ampliar a descoberta por aderência de conteúdo, sem tratar citações como sinônimo de qualidade.</a:t>
            </a:r>
            <a:endParaRPr/>
          </a:p>
        </p:txBody>
      </p:sp>
      <p:sp>
        <p:nvSpPr>
          <p:cNvPr id="29" name="Google Shape;29;h3802ef07334dbbe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Apresentar o Efeito Matilda, associado a Margaret Rossiter e Matilda Joslyn Gage: contribuições de mulheres são apagadas, minimizadas ou atribuídas a homens. Estudo de 2023 na PLOS Biology: 3,21 vezes mais homens entre os cientistas mais citados, considerando classificações possíveis de gênero. Explique o ciclo: muitos sistemas ligam relevância à popularidade acumulada; quem já é muito citado aparece mais, e trabalhos relevantes menos citados ficam invisíveis.</a:t>
            </a:r>
            <a:endParaRPr/>
          </a:p>
        </p:txBody>
      </p:sp>
      <p:sp>
        <p:nvSpPr>
          <p:cNvPr id="39" name="Google Shape;3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de pausa. Diferenças de citação têm múltiplas explicações. Evidência contextual: estudo de 2021 no JAMA Network Open encontrou mediana de 54 citações em trabalhos com homens como autores principais, contra 36 em trabalhos liderados por mulheres, diferença aproximada de 33%. Esse dado não prova que a diferença seja discriminação, nem que todo trabalho de mulher seja menos citado. Estudo de 2022 na Communications Physics: pioneirismo e momento de publicação também influenciam o reconhecimento. O ponto do projeto é outro: investigar como mecanismos de ranqueamento baseados em relévancia e popularidade podem reproduzir concentração de visibilidade.</a:t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Solução como descoberta complementar: prioriza a relação entre conteúdo e trabalhos recomendados, sem tratar citações como qualidade isolada. Cada resultado mostra título, autores, ano, citações, resumo, acesso à fonte e possível explicação de pertinência temática. A proposta não substitui referências masculinas por femininas e não decide pelo pesquisador.</a:t>
            </a:r>
            <a:endParaRPr/>
          </a:p>
        </p:txBody>
      </p:sp>
      <p:sp>
        <p:nvSpPr>
          <p:cNvPr id="67" name="Google Shape;6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Explicar que a similaridade é uma estimativa de aderência temática e que citações aparecem como contexto, não como critério de recomendação: o Citadelas não ignora citações, mas não as usa como sinônimo de qualidade. Lembrar que a IA pode interpretar incorretamente e que os resultados seguem vinculados a fontes verificáveis.</a:t>
            </a:r>
            <a:endParaRPr/>
          </a:p>
        </p:txBody>
      </p:sp>
      <p:sp>
        <p:nvSpPr>
          <p:cNvPr id="93" name="Google Shape;9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Apresentar a arquitetura: Python, Flask e Jinja, OpenAlex, Genderize e Google Gemini. Genderize é estimativa a partir do nome e não determina identidade de gênero; Gemini apoia a interpretação e pode errar, por isso as recomendações ficam vinculadas a metadados e fontes verificáveis.</a:t>
            </a:r>
            <a:endParaRPr/>
          </a:p>
        </p:txBody>
      </p:sp>
      <p:sp>
        <p:nvSpPr>
          <p:cNvPr id="107" name="Google Shape;10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Apresentar a viabilidade com custos reduzidos e flexibilidade, sem prometer custo nulo: serviços gratuitos ou de baixo custo, com limites, possíveis custos e dependências externas. O futuro inclui avaliação com pesquisadores reais, medição de artigos novos encontrados, melhoria da identificação de autorias, base própria e compartilhamento.</a:t>
            </a:r>
            <a:endParaRPr/>
          </a:p>
        </p:txBody>
      </p:sp>
      <p:sp>
        <p:nvSpPr>
          <p:cNvPr id="138" name="Google Shape;13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Encerrar com a pergunta sobre quantas pesquisas relevantes ainda deixamos de conhecer hoje e abrir espaço para as perguntas da banca.</a:t>
            </a:r>
            <a:endParaRPr/>
          </a:p>
        </p:txBody>
      </p:sp>
      <p:sp>
        <p:nvSpPr>
          <p:cNvPr id="155" name="Google Shape;15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h32e06555d6bdde6a_5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h32e06555d6bdde6a_5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Encerrar com a pergunta sobre quantas pesquisas relevantes ainda deixamos de conhecer hoje e abrir espaço para as perguntas da banca.</a:t>
            </a:r>
            <a:endParaRPr/>
          </a:p>
        </p:txBody>
      </p:sp>
      <p:sp>
        <p:nvSpPr>
          <p:cNvPr id="168" name="Google Shape;168;h32e06555d6bdde6a_5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Percorrer o fluxo: OpenAlex, processamento de autoria com estimativa probabilística baseada em nomes, Gemini para relação temática e decisão do pesquisador. Demonstração com pesquisa sobre IA na educação.</a:t>
            </a:r>
            <a:endParaRPr/>
          </a:p>
        </p:txBody>
      </p:sp>
      <p:sp>
        <p:nvSpPr>
          <p:cNvPr id="185" name="Google Shape;18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bg>
      <p:bgPr>
        <a:solidFill>
          <a:srgbClr val="0E0818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2" name="Google Shape;12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569325" y="1733029"/>
            <a:ext cx="42672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7F4FF"/>
              </a:buClr>
              <a:buSzPts val="5650"/>
              <a:buFont typeface="Space Grotesk"/>
              <a:buNone/>
            </a:pPr>
            <a:r>
              <a:rPr b="1" i="0" lang="en-US" sz="5650" u="none" cap="none" strike="noStrike">
                <a:solidFill>
                  <a:srgbClr val="F7F4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CIT</a:t>
            </a:r>
            <a:r>
              <a:rPr b="1" i="0" lang="en-US" sz="5650" u="none" cap="none" strike="noStrike">
                <a:solidFill>
                  <a:srgbClr val="62F5A8"/>
                </a:solidFill>
                <a:latin typeface="Space Grotesk"/>
                <a:ea typeface="Space Grotesk"/>
                <a:cs typeface="Space Grotesk"/>
                <a:sym typeface="Space Grotesk"/>
              </a:rPr>
              <a:t>Adelas</a:t>
            </a:r>
            <a:endParaRPr b="0" i="0" sz="5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569325" y="2598673"/>
            <a:ext cx="42672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Clr>
                <a:srgbClr val="F7F4FF"/>
              </a:buClr>
              <a:buSzPts val="1500"/>
              <a:buFont typeface="IBM Plex Sans SemiBold"/>
              <a:buNone/>
            </a:pPr>
            <a:r>
              <a:t/>
            </a:r>
            <a:endParaRPr sz="1500">
              <a:solidFill>
                <a:srgbClr val="F7F4FF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599025" y="2598675"/>
            <a:ext cx="42078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D6F3"/>
              </a:buClr>
              <a:buSzPts val="1400"/>
              <a:buFont typeface="IBM Plex Sans"/>
              <a:buNone/>
            </a:pPr>
            <a:r>
              <a:rPr lang="en-US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Citações, visibilidade feminina e uma ciência mais justa na busca acadêmica.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D6F3"/>
              </a:buClr>
              <a:buSzPts val="1400"/>
              <a:buFont typeface="IBM Plex Sans"/>
              <a:buNone/>
            </a:pPr>
            <a:r>
              <a:t/>
            </a:r>
            <a:endParaRPr>
              <a:solidFill>
                <a:srgbClr val="DED6F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599026" y="3219875"/>
            <a:ext cx="37965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62F5A8"/>
              </a:buClr>
              <a:buSzPts val="950"/>
              <a:buFont typeface="IBM Plex Sans"/>
              <a:buNone/>
            </a:pPr>
            <a:r>
              <a:rPr b="0" i="0" lang="en-US" sz="950" u="none" cap="none" strike="noStrike">
                <a:solidFill>
                  <a:srgbClr val="62F5A8"/>
                </a:solidFill>
                <a:latin typeface="IBM Plex Sans"/>
                <a:ea typeface="IBM Plex Sans"/>
                <a:cs typeface="IBM Plex Sans"/>
                <a:sym typeface="IBM Plex Sans"/>
              </a:rPr>
              <a:t>PLATAFORMA </a:t>
            </a:r>
            <a:r>
              <a:rPr lang="en-US" sz="950">
                <a:solidFill>
                  <a:srgbClr val="62F5A8"/>
                </a:solidFill>
                <a:latin typeface="IBM Plex Sans"/>
                <a:ea typeface="IBM Plex Sans"/>
                <a:cs typeface="IBM Plex Sans"/>
                <a:sym typeface="IBM Plex Sans"/>
              </a:rPr>
              <a:t>DE RECOMENDAÇÃO DE ARTIGOS </a:t>
            </a:r>
            <a:r>
              <a:rPr b="0" i="0" lang="en-US" sz="950" u="none" cap="none" strike="noStrike">
                <a:solidFill>
                  <a:srgbClr val="62F5A8"/>
                </a:solidFill>
                <a:latin typeface="IBM Plex Sans"/>
                <a:ea typeface="IBM Plex Sans"/>
                <a:cs typeface="IBM Plex Sans"/>
                <a:sym typeface="IBM Plex Sans"/>
              </a:rPr>
              <a:t>SEMÂNTICA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3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7650" y="4543425"/>
            <a:ext cx="1276350" cy="60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 txBox="1"/>
          <p:nvPr/>
        </p:nvSpPr>
        <p:spPr>
          <a:xfrm>
            <a:off x="5540800" y="4111825"/>
            <a:ext cx="2981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D6F3"/>
              </a:buClr>
              <a:buSzPts val="1400"/>
              <a:buFont typeface="IBM Plex Sans"/>
              <a:buNone/>
            </a:pPr>
            <a:r>
              <a:rPr lang="en-US" sz="800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Fonte: StatNews</a:t>
            </a:r>
            <a:r>
              <a:rPr baseline="30000" lang="en-US" sz="800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5</a:t>
            </a:r>
            <a:endParaRPr baseline="30000" sz="800">
              <a:solidFill>
                <a:srgbClr val="DED6F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5" name="Google Shape;25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6925" y="1297400"/>
            <a:ext cx="2847751" cy="2847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1235100" y="1274975"/>
            <a:ext cx="6956100" cy="36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7F4FF"/>
              </a:buClr>
              <a:buSzPts val="5650"/>
              <a:buFont typeface="Space Grotesk"/>
              <a:buNone/>
            </a:pPr>
            <a:r>
              <a:rPr b="1" lang="en-US" sz="4050">
                <a:solidFill>
                  <a:srgbClr val="F7F4FF"/>
                </a:solidFill>
                <a:latin typeface="Space Grotesk"/>
                <a:ea typeface="Space Grotesk"/>
                <a:cs typeface="Space Grotesk"/>
                <a:sym typeface="Space Grotesk"/>
              </a:rPr>
              <a:t>“Será que todas as descobertas científicas recebem o reconhecimento que merecem?”</a:t>
            </a:r>
            <a:endParaRPr b="0" i="0" sz="4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569325" y="2598673"/>
            <a:ext cx="42672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Clr>
                <a:srgbClr val="F7F4FF"/>
              </a:buClr>
              <a:buSzPts val="1500"/>
              <a:buFont typeface="IBM Plex Sans SemiBold"/>
              <a:buNone/>
            </a:pPr>
            <a:r>
              <a:t/>
            </a:r>
            <a:endParaRPr sz="1500">
              <a:solidFill>
                <a:srgbClr val="F7F4FF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2963450" y="384225"/>
            <a:ext cx="14919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D6F3"/>
              </a:buClr>
              <a:buSzPts val="1400"/>
              <a:buFont typeface="IBM Plex Sans"/>
              <a:buNone/>
            </a:pPr>
            <a:r>
              <a:t/>
            </a:r>
            <a:endParaRPr>
              <a:solidFill>
                <a:srgbClr val="DED6F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2529150" y="3546225"/>
            <a:ext cx="4368000" cy="9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62F5A8"/>
              </a:buClr>
              <a:buSzPts val="950"/>
              <a:buFont typeface="IBM Plex Sans"/>
              <a:buNone/>
            </a:pPr>
            <a:r>
              <a:rPr lang="en-US" sz="1850">
                <a:solidFill>
                  <a:srgbClr val="62F5A8"/>
                </a:solidFill>
                <a:latin typeface="IBM Plex Sans"/>
                <a:ea typeface="IBM Plex Sans"/>
                <a:cs typeface="IBM Plex Sans"/>
                <a:sym typeface="IBM Plex Sans"/>
              </a:rPr>
              <a:t>E  ele acontece da mesma maneira para homens e mulheres?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" name="Google Shape;35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7650" y="4543425"/>
            <a:ext cx="1276350" cy="60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522160" y="837307"/>
            <a:ext cx="87630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2F5A8"/>
              </a:buClr>
              <a:buSzPts val="850"/>
              <a:buFont typeface="IBM Plex Sans SemiBold"/>
              <a:buNone/>
            </a:pPr>
            <a:r>
              <a:rPr b="0" i="0" lang="en-US" sz="850" u="none" cap="none" strike="noStrike">
                <a:solidFill>
                  <a:srgbClr val="62F5A8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O PROBLEMA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6"/>
          <p:cNvSpPr/>
          <p:nvPr/>
        </p:nvSpPr>
        <p:spPr>
          <a:xfrm>
            <a:off x="610384" y="1062082"/>
            <a:ext cx="83820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Clr>
                <a:srgbClr val="F7F4FF"/>
              </a:buClr>
              <a:buSzPts val="3050"/>
              <a:buFont typeface="Space Grotesk"/>
              <a:buNone/>
            </a:pPr>
            <a:r>
              <a:rPr b="1" i="0" lang="en-US" sz="3050" u="none" cap="none" strike="noStrike">
                <a:solidFill>
                  <a:srgbClr val="F7F4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 Efeito Matilda apaga contribuições de mulheres na ciência</a:t>
            </a:r>
            <a:endParaRPr b="0" i="0" sz="3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6"/>
          <p:cNvSpPr/>
          <p:nvPr/>
        </p:nvSpPr>
        <p:spPr>
          <a:xfrm>
            <a:off x="486875" y="2260046"/>
            <a:ext cx="4076700" cy="20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0190" lvl="0" marL="24384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D6F3"/>
              </a:buClr>
              <a:buSzPts val="1300"/>
              <a:buFont typeface="IBM Plex Sans"/>
              <a:buChar char="•"/>
            </a:pPr>
            <a:r>
              <a:rPr b="0" i="0" lang="en-US" sz="1300" u="none" cap="none" strike="noStrike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Termo associado a Margaret Rossiter e Matilda Joslyn Gage.</a:t>
            </a:r>
            <a:endParaRPr b="0" i="0" sz="1300" u="none" cap="none" strike="noStrike">
              <a:solidFill>
                <a:srgbClr val="DED6F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DED6F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50190" lvl="0" marL="24384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D6F3"/>
              </a:buClr>
              <a:buSzPts val="1300"/>
              <a:buFont typeface="IBM Plex Sans"/>
              <a:buChar char="•"/>
            </a:pPr>
            <a:r>
              <a:rPr b="0" i="0" lang="en-US" sz="1300" u="none" cap="none" strike="noStrike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Contribuições de mulheres são apagadas, minimizadas ou atribuídas a homens.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DED6F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-250190" lvl="0" marL="24384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D6F3"/>
              </a:buClr>
              <a:buSzPts val="1300"/>
              <a:buFont typeface="IBM Plex Sans"/>
              <a:buChar char="•"/>
            </a:pPr>
            <a:r>
              <a:rPr b="0" i="0" lang="en-US" sz="1300" u="none" cap="none" strike="noStrike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Trabalhos relevantes e menos citados ficam invisíveis.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4686300" y="1956271"/>
            <a:ext cx="4076700" cy="2349847"/>
          </a:xfrm>
          <a:prstGeom prst="rect">
            <a:avLst/>
          </a:prstGeom>
          <a:solidFill>
            <a:srgbClr val="2113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6"/>
          <p:cNvSpPr/>
          <p:nvPr/>
        </p:nvSpPr>
        <p:spPr>
          <a:xfrm>
            <a:off x="4857750" y="2127721"/>
            <a:ext cx="3733800" cy="420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D6F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Estudo de 2023 na PLOS Biology, entre os cientistas mais citados: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4857750" y="2706664"/>
            <a:ext cx="3733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62F5A8"/>
              </a:buClr>
              <a:buSzPts val="5750"/>
              <a:buFont typeface="Space Grotesk"/>
              <a:buNone/>
            </a:pPr>
            <a:r>
              <a:rPr b="1" i="0" lang="en-US" sz="5750" u="none" cap="none" strike="noStrike">
                <a:solidFill>
                  <a:srgbClr val="62F5A8"/>
                </a:solidFill>
                <a:latin typeface="Space Grotesk"/>
                <a:ea typeface="Space Grotesk"/>
                <a:cs typeface="Space Grotesk"/>
                <a:sym typeface="Space Grotesk"/>
              </a:rPr>
              <a:t>3,21×</a:t>
            </a:r>
            <a:endParaRPr b="0" i="0" sz="5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4857750" y="3600822"/>
            <a:ext cx="3733800" cy="420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D6F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mais homens do que mulheres, considerando </a:t>
            </a:r>
            <a:r>
              <a:rPr lang="en-US" sz="1200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autores  cuja classificação de gênero foi possível.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0" y="123825"/>
            <a:ext cx="666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D6F3"/>
              </a:buClr>
              <a:buSzPts val="850"/>
              <a:buFont typeface="IBM Plex Sans"/>
              <a:buNone/>
            </a:pPr>
            <a:r>
              <a:rPr b="0" i="0" lang="en-US" sz="850" u="none" cap="none" strike="noStrike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" name="Google Shape;4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11200" y="4610918"/>
            <a:ext cx="1132793" cy="532582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5539700" y="4134663"/>
            <a:ext cx="30000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PLOS Biology, v. 21, n. 11, e3002385. </a:t>
            </a:r>
            <a:r>
              <a:rPr baseline="30000" lang="en-US" sz="85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2</a:t>
            </a:r>
            <a:endParaRPr baseline="30000" sz="850">
              <a:solidFill>
                <a:schemeClr val="lt1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9725" y="442674"/>
            <a:ext cx="1132799" cy="632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"/>
          <p:cNvSpPr/>
          <p:nvPr/>
        </p:nvSpPr>
        <p:spPr>
          <a:xfrm>
            <a:off x="533400" y="457200"/>
            <a:ext cx="8610600" cy="144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2F5A8"/>
              </a:buClr>
              <a:buSzPts val="850"/>
              <a:buFont typeface="IBM Plex Sans SemiBold"/>
              <a:buNone/>
            </a:pPr>
            <a:r>
              <a:rPr b="0" i="0" lang="en-US" sz="850" u="none" cap="none" strike="noStrike">
                <a:solidFill>
                  <a:srgbClr val="62F5A8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DIAGNÓSTICO ESTRUTURAL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7"/>
          <p:cNvSpPr/>
          <p:nvPr/>
        </p:nvSpPr>
        <p:spPr>
          <a:xfrm>
            <a:off x="533400" y="725611"/>
            <a:ext cx="8267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7F4FF"/>
              </a:buClr>
              <a:buSzPts val="2850"/>
              <a:buFont typeface="Space Grotesk"/>
              <a:buNone/>
            </a:pPr>
            <a:r>
              <a:rPr b="1" i="0" lang="en-US" sz="2850" u="none" cap="none" strike="noStrike">
                <a:solidFill>
                  <a:srgbClr val="F7F4FF"/>
                </a:solidFill>
                <a:latin typeface="Space Grotesk"/>
                <a:ea typeface="Space Grotesk"/>
                <a:cs typeface="Space Grotesk"/>
                <a:sym typeface="Space Grotesk"/>
              </a:rPr>
              <a:t>Visibilidade não </a:t>
            </a:r>
            <a:r>
              <a:rPr b="1" lang="en-US" sz="2850">
                <a:solidFill>
                  <a:srgbClr val="F7F4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implica </a:t>
            </a:r>
            <a:r>
              <a:rPr b="1" i="0" lang="en-US" sz="2850" u="none" cap="none" strike="noStrike">
                <a:solidFill>
                  <a:srgbClr val="F7F4FF"/>
                </a:solidFill>
                <a:latin typeface="Space Grotesk"/>
                <a:ea typeface="Space Grotesk"/>
                <a:cs typeface="Space Grotesk"/>
                <a:sym typeface="Space Grotesk"/>
              </a:rPr>
              <a:t>qualidade.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7"/>
          <p:cNvSpPr/>
          <p:nvPr/>
        </p:nvSpPr>
        <p:spPr>
          <a:xfrm>
            <a:off x="533400" y="1325687"/>
            <a:ext cx="8267700" cy="1117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D6F3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J</a:t>
            </a:r>
            <a:r>
              <a:rPr b="1" i="0" lang="en-US" u="none" cap="none" strike="noStrike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AMA Network Open · 2021</a:t>
            </a:r>
            <a:r>
              <a:rPr b="1" baseline="30000" lang="en-US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3</a:t>
            </a:r>
            <a:r>
              <a:rPr b="1" i="0" lang="en-US" u="none" cap="none" strike="noStrike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:</a:t>
            </a:r>
            <a:r>
              <a:rPr b="0" i="0" lang="en-US" u="none" cap="none" strike="noStrike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 mediana de 54 citações em trabalhos com homens como autores principais vs. 36 em trabalhos liderados por mulheres.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50"/>
              </a:spcBef>
              <a:spcAft>
                <a:spcPts val="0"/>
              </a:spcAft>
              <a:buClr>
                <a:srgbClr val="DED6F3"/>
              </a:buClr>
              <a:buSzPts val="1200"/>
              <a:buFont typeface="IBM Plex Sans"/>
              <a:buNone/>
            </a:pPr>
            <a:r>
              <a:rPr b="1" i="0" lang="en-US" u="none" cap="none" strike="noStrike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Communications Physics · 2022</a:t>
            </a:r>
            <a:r>
              <a:rPr b="1" baseline="30000" i="0" lang="en-US" u="none" cap="none" strike="noStrike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4</a:t>
            </a:r>
            <a:r>
              <a:rPr b="1" i="0" lang="en-US" u="none" cap="none" strike="noStrike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:</a:t>
            </a:r>
            <a:r>
              <a:rPr b="0" i="0" lang="en-US" u="none" cap="none" strike="noStrike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 pioneirismo e momento da publicação também influenciam as citações.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50"/>
              </a:spcBef>
              <a:spcAft>
                <a:spcPts val="0"/>
              </a:spcAft>
              <a:buClr>
                <a:srgbClr val="DED6F3"/>
              </a:buClr>
              <a:buSzPts val="1200"/>
              <a:buFont typeface="IBM Plex Sans"/>
              <a:buNone/>
            </a:pPr>
            <a:r>
              <a:rPr b="1" i="0" lang="en-US" u="none" cap="none" strike="noStrike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Isso não prova discriminação nem menor qualidade.</a:t>
            </a:r>
            <a:r>
              <a:rPr b="0" i="0" lang="en-US" u="none" cap="none" strike="noStrike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 Mostra que </a:t>
            </a:r>
            <a:r>
              <a:rPr lang="en-US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o reconhecimento acadêmico não depende </a:t>
            </a:r>
            <a:r>
              <a:rPr lang="en-US" sz="1200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exclusivamente do conteúdo científico produzido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" name="Google Shape;6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302422"/>
            <a:ext cx="9143998" cy="184107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7"/>
          <p:cNvSpPr/>
          <p:nvPr/>
        </p:nvSpPr>
        <p:spPr>
          <a:xfrm>
            <a:off x="2289075" y="3689488"/>
            <a:ext cx="8610600" cy="2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D6F3"/>
              </a:buClr>
              <a:buSzPts val="1400"/>
              <a:buFont typeface="IBM Plex Sans"/>
              <a:buNone/>
            </a:pPr>
            <a:r>
              <a:rPr b="1" i="0" lang="en-US" sz="1800" u="none" cap="none" strike="noStrike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O risco:</a:t>
            </a:r>
            <a:r>
              <a:rPr b="0" i="0" lang="en-US" sz="1800" u="none" cap="none" strike="noStrike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 o que já aparece tende a aparecer mais.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0" y="123825"/>
            <a:ext cx="666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D6F3"/>
              </a:buClr>
              <a:buSzPts val="850"/>
              <a:buFont typeface="IBM Plex Sans"/>
              <a:buNone/>
            </a:pPr>
            <a:r>
              <a:rPr b="0" i="0" lang="en-US" sz="850" u="none" cap="none" strike="noStrike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9725" y="442674"/>
            <a:ext cx="1132799" cy="632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/>
          <p:nvPr/>
        </p:nvSpPr>
        <p:spPr>
          <a:xfrm>
            <a:off x="400050" y="342900"/>
            <a:ext cx="8743950" cy="144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2F5A8"/>
              </a:buClr>
              <a:buSzPts val="850"/>
              <a:buFont typeface="IBM Plex Sans SemiBold"/>
              <a:buNone/>
            </a:pPr>
            <a:r>
              <a:rPr b="0" i="0" lang="en-US" sz="850" u="none" cap="none" strike="noStrike">
                <a:solidFill>
                  <a:srgbClr val="62F5A8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A ABORDAGEM CITADELAS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8"/>
          <p:cNvSpPr/>
          <p:nvPr/>
        </p:nvSpPr>
        <p:spPr>
          <a:xfrm>
            <a:off x="400050" y="567675"/>
            <a:ext cx="8343900" cy="11400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Clr>
                <a:srgbClr val="F7F4FF"/>
              </a:buClr>
              <a:buSzPts val="3050"/>
              <a:buFont typeface="Space Grotesk"/>
              <a:buNone/>
            </a:pPr>
            <a:r>
              <a:rPr b="1" lang="en-US" sz="3050">
                <a:solidFill>
                  <a:srgbClr val="F7F4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Facilitando a  Descoberta de Pesquisas </a:t>
            </a:r>
            <a:endParaRPr b="1" sz="3050">
              <a:solidFill>
                <a:srgbClr val="F7F4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indent="0" lvl="0" marL="0" marR="0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Clr>
                <a:srgbClr val="F7F4FF"/>
              </a:buClr>
              <a:buSzPts val="3050"/>
              <a:buFont typeface="Space Grotesk"/>
              <a:buNone/>
            </a:pPr>
            <a:r>
              <a:rPr b="1" lang="en-US" sz="3050">
                <a:solidFill>
                  <a:srgbClr val="F7F4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Produzidas por Mulheres</a:t>
            </a:r>
            <a:endParaRPr b="1" sz="3050">
              <a:solidFill>
                <a:srgbClr val="F7F4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71" name="Google Shape;71;p8"/>
          <p:cNvSpPr/>
          <p:nvPr/>
        </p:nvSpPr>
        <p:spPr>
          <a:xfrm>
            <a:off x="400050" y="1822847"/>
            <a:ext cx="2628900" cy="2095574"/>
          </a:xfrm>
          <a:prstGeom prst="roundRect">
            <a:avLst>
              <a:gd fmla="val 3054" name="adj"/>
            </a:avLst>
          </a:prstGeom>
          <a:noFill/>
          <a:ln cap="flat" cmpd="sng" w="19050">
            <a:solidFill>
              <a:srgbClr val="2191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8"/>
          <p:cNvSpPr/>
          <p:nvPr/>
        </p:nvSpPr>
        <p:spPr>
          <a:xfrm>
            <a:off x="609600" y="2032397"/>
            <a:ext cx="724346" cy="231502"/>
          </a:xfrm>
          <a:prstGeom prst="roundRect">
            <a:avLst>
              <a:gd fmla="val 22119" name="adj"/>
            </a:avLst>
          </a:prstGeom>
          <a:solidFill>
            <a:srgbClr val="054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8"/>
          <p:cNvSpPr/>
          <p:nvPr/>
        </p:nvSpPr>
        <p:spPr>
          <a:xfrm>
            <a:off x="700980" y="2078087"/>
            <a:ext cx="998786" cy="140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DED6F3"/>
              </a:buClr>
              <a:buSzPts val="950"/>
              <a:buFont typeface="IBM Plex Sans"/>
              <a:buNone/>
            </a:pPr>
            <a:r>
              <a:rPr b="0" i="0" lang="en-US" sz="950" u="none" cap="none" strike="noStrike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ENTRADA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8"/>
          <p:cNvSpPr/>
          <p:nvPr/>
        </p:nvSpPr>
        <p:spPr>
          <a:xfrm>
            <a:off x="609600" y="2384212"/>
            <a:ext cx="2209800" cy="189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Clr>
                <a:srgbClr val="F7F4FF"/>
              </a:buClr>
              <a:buSzPts val="1500"/>
              <a:buFont typeface="IBM Plex Sans SemiBold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8"/>
          <p:cNvSpPr/>
          <p:nvPr/>
        </p:nvSpPr>
        <p:spPr>
          <a:xfrm>
            <a:off x="609600" y="2677716"/>
            <a:ext cx="2209800" cy="420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D6F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Resumo, trecho ou descrição do problema de pesquisa.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8"/>
          <p:cNvSpPr/>
          <p:nvPr/>
        </p:nvSpPr>
        <p:spPr>
          <a:xfrm>
            <a:off x="3257550" y="1822847"/>
            <a:ext cx="2628900" cy="2095574"/>
          </a:xfrm>
          <a:prstGeom prst="roundRect">
            <a:avLst>
              <a:gd fmla="val 3054" name="adj"/>
            </a:avLst>
          </a:prstGeom>
          <a:noFill/>
          <a:ln cap="flat" cmpd="sng" w="19050">
            <a:solidFill>
              <a:srgbClr val="2191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8"/>
          <p:cNvSpPr/>
          <p:nvPr/>
        </p:nvSpPr>
        <p:spPr>
          <a:xfrm>
            <a:off x="3467100" y="2032397"/>
            <a:ext cx="738336" cy="231502"/>
          </a:xfrm>
          <a:prstGeom prst="roundRect">
            <a:avLst>
              <a:gd fmla="val 22119" name="adj"/>
            </a:avLst>
          </a:prstGeom>
          <a:solidFill>
            <a:srgbClr val="054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8"/>
          <p:cNvSpPr/>
          <p:nvPr/>
        </p:nvSpPr>
        <p:spPr>
          <a:xfrm>
            <a:off x="3558480" y="2078087"/>
            <a:ext cx="1012775" cy="140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DED6F3"/>
              </a:buClr>
              <a:buSzPts val="950"/>
              <a:buFont typeface="IBM Plex Sans"/>
              <a:buNone/>
            </a:pPr>
            <a:r>
              <a:rPr b="0" i="0" lang="en-US" sz="950" u="none" cap="none" strike="noStrike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CONEXÃO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8"/>
          <p:cNvSpPr/>
          <p:nvPr/>
        </p:nvSpPr>
        <p:spPr>
          <a:xfrm>
            <a:off x="3467100" y="2384212"/>
            <a:ext cx="2209800" cy="189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Clr>
                <a:srgbClr val="F7F4FF"/>
              </a:buClr>
              <a:buSzPts val="1500"/>
              <a:buFont typeface="IBM Plex Sans SemiBold"/>
              <a:buNone/>
            </a:pPr>
            <a:r>
              <a:rPr b="0" i="0" lang="en-US" sz="1500" u="none" cap="none" strike="noStrike">
                <a:solidFill>
                  <a:srgbClr val="F7F4FF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Pertinência temática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8"/>
          <p:cNvSpPr/>
          <p:nvPr/>
        </p:nvSpPr>
        <p:spPr>
          <a:xfrm>
            <a:off x="3467100" y="2677716"/>
            <a:ext cx="2209800" cy="8411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D6F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Relação entre o conteúdo do trabalho e o problema pesquisado, como estimativa, não como medida de qualidade.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8"/>
          <p:cNvSpPr/>
          <p:nvPr/>
        </p:nvSpPr>
        <p:spPr>
          <a:xfrm>
            <a:off x="6115050" y="1822847"/>
            <a:ext cx="2628900" cy="2095574"/>
          </a:xfrm>
          <a:prstGeom prst="roundRect">
            <a:avLst>
              <a:gd fmla="val 3054" name="adj"/>
            </a:avLst>
          </a:prstGeom>
          <a:noFill/>
          <a:ln cap="flat" cmpd="sng" w="19050">
            <a:solidFill>
              <a:srgbClr val="2191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8"/>
          <p:cNvSpPr/>
          <p:nvPr/>
        </p:nvSpPr>
        <p:spPr>
          <a:xfrm>
            <a:off x="6324600" y="2032397"/>
            <a:ext cx="1057945" cy="231502"/>
          </a:xfrm>
          <a:prstGeom prst="roundRect">
            <a:avLst>
              <a:gd fmla="val 22119" name="adj"/>
            </a:avLst>
          </a:prstGeom>
          <a:solidFill>
            <a:srgbClr val="054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8"/>
          <p:cNvSpPr/>
          <p:nvPr/>
        </p:nvSpPr>
        <p:spPr>
          <a:xfrm>
            <a:off x="6415980" y="2078087"/>
            <a:ext cx="1332384" cy="140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DED6F3"/>
              </a:buClr>
              <a:buSzPts val="950"/>
              <a:buFont typeface="IBM Plex Sans"/>
              <a:buNone/>
            </a:pPr>
            <a:r>
              <a:rPr b="0" i="0" lang="en-US" sz="950" u="none" cap="none" strike="noStrike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COMPLEMENTO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8"/>
          <p:cNvSpPr/>
          <p:nvPr/>
        </p:nvSpPr>
        <p:spPr>
          <a:xfrm>
            <a:off x="6324600" y="2384212"/>
            <a:ext cx="2209800" cy="379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Clr>
                <a:srgbClr val="F7F4FF"/>
              </a:buClr>
              <a:buSzPts val="1500"/>
              <a:buFont typeface="IBM Plex Sans SemiBold"/>
              <a:buNone/>
            </a:pPr>
            <a:r>
              <a:rPr b="0" i="0" lang="en-US" sz="1500" u="none" cap="none" strike="noStrike">
                <a:solidFill>
                  <a:srgbClr val="F7F4FF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Descoberta complementar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6324600" y="2867695"/>
            <a:ext cx="2209800" cy="8411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D6F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Cada recomendação traz título, autores, ano, citações, resumo, acesso à fonte e explicação de pertinência temática.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400050" y="4108921"/>
            <a:ext cx="8343900" cy="4205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D6F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Muitas buscas tradicionais começam pela popularidade. O Citadelas começa pela aderência semântica e pela pertinência temática; citações entram como contexto, não como filtro.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0" y="123825"/>
            <a:ext cx="666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D6F3"/>
              </a:buClr>
              <a:buSzPts val="850"/>
              <a:buFont typeface="IBM Plex Sans"/>
              <a:buNone/>
            </a:pPr>
            <a:r>
              <a:rPr b="0" i="0" lang="en-US" sz="850" u="none" cap="none" strike="noStrike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6750" y="4675200"/>
            <a:ext cx="1267250" cy="46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9725" y="442674"/>
            <a:ext cx="1132799" cy="632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/>
          <p:nvPr/>
        </p:nvSpPr>
        <p:spPr>
          <a:xfrm>
            <a:off x="1034925" y="948075"/>
            <a:ext cx="32919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2F5A8"/>
              </a:buClr>
              <a:buSzPts val="850"/>
              <a:buFont typeface="IBM Plex Sans SemiBold"/>
              <a:buNone/>
            </a:pPr>
            <a:r>
              <a:rPr b="0" i="0" lang="en-US" sz="850" u="none" cap="none" strike="noStrike">
                <a:solidFill>
                  <a:srgbClr val="62F5A8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INTERFACE &amp; TRANSPARÊNCIA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9"/>
          <p:cNvSpPr/>
          <p:nvPr/>
        </p:nvSpPr>
        <p:spPr>
          <a:xfrm>
            <a:off x="1034925" y="1172850"/>
            <a:ext cx="3291900" cy="11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Clr>
                <a:srgbClr val="F7F4FF"/>
              </a:buClr>
              <a:buSzPts val="3050"/>
              <a:buFont typeface="Space Grotesk"/>
              <a:buNone/>
            </a:pPr>
            <a:r>
              <a:rPr b="1" i="0" lang="en-US" sz="3050" u="none" cap="none" strike="noStrike">
                <a:solidFill>
                  <a:srgbClr val="F7F4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 dashboard torna a decisão transparente</a:t>
            </a:r>
            <a:endParaRPr b="0" i="0" sz="3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1034925" y="2408975"/>
            <a:ext cx="30192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D6F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Citações são contexto para o pesquisador, não critério de recomendação.</a:t>
            </a:r>
            <a:r>
              <a:rPr lang="en-US" sz="1200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1034925" y="2914900"/>
            <a:ext cx="3019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D6F3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Similaridade temática:</a:t>
            </a:r>
            <a:r>
              <a:rPr b="0" i="0" lang="en-US" sz="1200" u="none" cap="none" strike="noStrike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 estimativa de aderência, não medida de qualidade.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1034925" y="3471568"/>
            <a:ext cx="3019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D6F3"/>
              </a:buClr>
              <a:buSzPts val="1200"/>
              <a:buFont typeface="IBM Plex Sans"/>
              <a:buNone/>
            </a:pPr>
            <a:r>
              <a:rPr b="1" i="0" lang="en-US" sz="1200" u="none" cap="none" strike="noStrike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Citações:</a:t>
            </a:r>
            <a:r>
              <a:rPr b="0" i="0" lang="en-US" sz="1200" u="none" cap="none" strike="noStrike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 contexto registrado no OpenAlex, com link para a fonte, não o critério principal.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0" y="123825"/>
            <a:ext cx="666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D6F3"/>
              </a:buClr>
              <a:buSzPts val="850"/>
              <a:buFont typeface="IBM Plex Sans"/>
              <a:buNone/>
            </a:pPr>
            <a:r>
              <a:rPr b="0" i="0" lang="en-US" sz="850" u="none" cap="none" strike="noStrike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7655" y="4543419"/>
            <a:ext cx="127635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9725" y="442674"/>
            <a:ext cx="1132799" cy="632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00425" y="992598"/>
            <a:ext cx="2453164" cy="3158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"/>
          <p:cNvSpPr/>
          <p:nvPr/>
        </p:nvSpPr>
        <p:spPr>
          <a:xfrm>
            <a:off x="404133" y="871263"/>
            <a:ext cx="87249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2F5A8"/>
              </a:buClr>
              <a:buSzPts val="850"/>
              <a:buFont typeface="IBM Plex Sans SemiBold"/>
              <a:buNone/>
            </a:pPr>
            <a:r>
              <a:rPr b="0" i="0" lang="en-US" sz="850" u="none" cap="none" strike="noStrike">
                <a:solidFill>
                  <a:srgbClr val="62F5A8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ARQUITETURA DE DADOS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404133" y="1096038"/>
            <a:ext cx="83058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Clr>
                <a:srgbClr val="F7F4FF"/>
              </a:buClr>
              <a:buSzPts val="3050"/>
              <a:buFont typeface="Space Grotesk"/>
              <a:buNone/>
            </a:pPr>
            <a:r>
              <a:rPr b="1" i="0" lang="en-US" sz="3050" u="none" cap="none" strike="noStrike">
                <a:solidFill>
                  <a:srgbClr val="F7F4FF"/>
                </a:solidFill>
                <a:latin typeface="Space Grotesk"/>
                <a:ea typeface="Space Grotesk"/>
                <a:cs typeface="Space Grotesk"/>
                <a:sym typeface="Space Grotesk"/>
              </a:rPr>
              <a:t>Quatro peças, uma busca mais justa</a:t>
            </a:r>
            <a:endParaRPr b="0" i="0" sz="3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404133" y="1629245"/>
            <a:ext cx="1905000" cy="2288100"/>
          </a:xfrm>
          <a:prstGeom prst="roundRect">
            <a:avLst>
              <a:gd fmla="val 3360" name="adj"/>
            </a:avLst>
          </a:prstGeom>
          <a:noFill/>
          <a:ln cap="flat" cmpd="sng" w="19050">
            <a:solidFill>
              <a:srgbClr val="2191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0"/>
          <p:cNvSpPr/>
          <p:nvPr/>
        </p:nvSpPr>
        <p:spPr>
          <a:xfrm>
            <a:off x="594633" y="1819745"/>
            <a:ext cx="481200" cy="231600"/>
          </a:xfrm>
          <a:prstGeom prst="roundRect">
            <a:avLst>
              <a:gd fmla="val 22119" name="adj"/>
            </a:avLst>
          </a:prstGeom>
          <a:solidFill>
            <a:srgbClr val="054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0"/>
          <p:cNvSpPr/>
          <p:nvPr/>
        </p:nvSpPr>
        <p:spPr>
          <a:xfrm>
            <a:off x="686013" y="1865435"/>
            <a:ext cx="7557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DED6F3"/>
              </a:buClr>
              <a:buSzPts val="950"/>
              <a:buFont typeface="IBM Plex Sans"/>
              <a:buNone/>
            </a:pPr>
            <a:r>
              <a:rPr b="0" i="0" lang="en-US" sz="950" u="none" cap="none" strike="noStrike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BASE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0"/>
          <p:cNvSpPr/>
          <p:nvPr/>
        </p:nvSpPr>
        <p:spPr>
          <a:xfrm>
            <a:off x="594633" y="2171559"/>
            <a:ext cx="15240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Clr>
                <a:srgbClr val="F7F4FF"/>
              </a:buClr>
              <a:buSzPts val="1500"/>
              <a:buFont typeface="IBM Plex Sans SemiBold"/>
              <a:buNone/>
            </a:pPr>
            <a:r>
              <a:rPr b="0" i="0" lang="en-US" sz="1500" u="none" cap="none" strike="noStrike">
                <a:solidFill>
                  <a:srgbClr val="F7F4FF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OpenAlex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0"/>
          <p:cNvSpPr/>
          <p:nvPr/>
        </p:nvSpPr>
        <p:spPr>
          <a:xfrm>
            <a:off x="594633" y="2465063"/>
            <a:ext cx="15240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D6F3"/>
              </a:buClr>
              <a:buSzPts val="1200"/>
              <a:buFont typeface="IBM Plex Sans"/>
              <a:buNone/>
            </a:pPr>
            <a:r>
              <a:rPr lang="en-US" sz="1200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Disponibiliza metadados acadêmicos, incluindo publicações, citações, instituições e vínculos entre pesquisadores.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0"/>
          <p:cNvSpPr/>
          <p:nvPr/>
        </p:nvSpPr>
        <p:spPr>
          <a:xfrm>
            <a:off x="2537733" y="1629245"/>
            <a:ext cx="1905000" cy="2288100"/>
          </a:xfrm>
          <a:prstGeom prst="roundRect">
            <a:avLst>
              <a:gd fmla="val 3360" name="adj"/>
            </a:avLst>
          </a:prstGeom>
          <a:noFill/>
          <a:ln cap="flat" cmpd="sng" w="19050">
            <a:solidFill>
              <a:srgbClr val="2191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0"/>
          <p:cNvSpPr/>
          <p:nvPr/>
        </p:nvSpPr>
        <p:spPr>
          <a:xfrm>
            <a:off x="2728233" y="1819745"/>
            <a:ext cx="700500" cy="231600"/>
          </a:xfrm>
          <a:prstGeom prst="roundRect">
            <a:avLst>
              <a:gd fmla="val 22119" name="adj"/>
            </a:avLst>
          </a:prstGeom>
          <a:solidFill>
            <a:srgbClr val="054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0"/>
          <p:cNvSpPr/>
          <p:nvPr/>
        </p:nvSpPr>
        <p:spPr>
          <a:xfrm>
            <a:off x="2819613" y="1865435"/>
            <a:ext cx="9750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DED6F3"/>
              </a:buClr>
              <a:buSzPts val="950"/>
              <a:buFont typeface="IBM Plex Sans"/>
              <a:buNone/>
            </a:pPr>
            <a:r>
              <a:rPr b="0" i="0" lang="en-US" sz="950" u="none" cap="none" strike="noStrike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AUTORIA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0"/>
          <p:cNvSpPr/>
          <p:nvPr/>
        </p:nvSpPr>
        <p:spPr>
          <a:xfrm>
            <a:off x="2728233" y="2171559"/>
            <a:ext cx="15240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Clr>
                <a:srgbClr val="F7F4FF"/>
              </a:buClr>
              <a:buSzPts val="1500"/>
              <a:buFont typeface="IBM Plex Sans SemiBold"/>
              <a:buNone/>
            </a:pPr>
            <a:r>
              <a:rPr b="0" i="0" lang="en-US" sz="1500" u="none" cap="none" strike="noStrike">
                <a:solidFill>
                  <a:srgbClr val="F7F4FF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Genderize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0"/>
          <p:cNvSpPr/>
          <p:nvPr/>
        </p:nvSpPr>
        <p:spPr>
          <a:xfrm>
            <a:off x="2728233" y="2465063"/>
            <a:ext cx="1524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D6F3"/>
              </a:buClr>
              <a:buSzPts val="1200"/>
              <a:buFont typeface="IBM Plex Sans"/>
              <a:buNone/>
            </a:pPr>
            <a:r>
              <a:rPr lang="en-US" sz="1200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Estima o gênero associado a nomes próprios, contribuindo para a análise do perfil de autoria.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0"/>
          <p:cNvSpPr/>
          <p:nvPr/>
        </p:nvSpPr>
        <p:spPr>
          <a:xfrm>
            <a:off x="4671333" y="1629245"/>
            <a:ext cx="1905000" cy="2288100"/>
          </a:xfrm>
          <a:prstGeom prst="roundRect">
            <a:avLst>
              <a:gd fmla="val 3360" name="adj"/>
            </a:avLst>
          </a:prstGeom>
          <a:noFill/>
          <a:ln cap="flat" cmpd="sng" w="19050">
            <a:solidFill>
              <a:srgbClr val="2191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0"/>
          <p:cNvSpPr/>
          <p:nvPr/>
        </p:nvSpPr>
        <p:spPr>
          <a:xfrm>
            <a:off x="4861833" y="1819745"/>
            <a:ext cx="1135800" cy="231600"/>
          </a:xfrm>
          <a:prstGeom prst="roundRect">
            <a:avLst>
              <a:gd fmla="val 22119" name="adj"/>
            </a:avLst>
          </a:prstGeom>
          <a:solidFill>
            <a:srgbClr val="054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0"/>
          <p:cNvSpPr/>
          <p:nvPr/>
        </p:nvSpPr>
        <p:spPr>
          <a:xfrm>
            <a:off x="4953213" y="1865435"/>
            <a:ext cx="14103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DED6F3"/>
              </a:buClr>
              <a:buSzPts val="950"/>
              <a:buFont typeface="IBM Plex Sans"/>
              <a:buNone/>
            </a:pPr>
            <a:r>
              <a:rPr b="0" i="0" lang="en-US" sz="950" u="none" cap="none" strike="noStrike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INTERPRETAÇÃO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0"/>
          <p:cNvSpPr/>
          <p:nvPr/>
        </p:nvSpPr>
        <p:spPr>
          <a:xfrm>
            <a:off x="4861833" y="2171559"/>
            <a:ext cx="15240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Clr>
                <a:srgbClr val="F7F4FF"/>
              </a:buClr>
              <a:buSzPts val="1500"/>
              <a:buFont typeface="IBM Plex Sans SemiBold"/>
              <a:buNone/>
            </a:pPr>
            <a:r>
              <a:rPr b="0" i="0" lang="en-US" sz="1500" u="none" cap="none" strike="noStrike">
                <a:solidFill>
                  <a:srgbClr val="F7F4FF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Google Gemini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4861833" y="2465063"/>
            <a:ext cx="1524000" cy="12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D6F3"/>
              </a:buClr>
              <a:buSzPts val="1200"/>
              <a:buFont typeface="IBM Plex Sans"/>
              <a:buNone/>
            </a:pPr>
            <a:r>
              <a:rPr lang="en-US" sz="1200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Analisa e relaciona informações dos textos para gerar interpretações e apoiar a compreensão dos resultados.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6804933" y="1629245"/>
            <a:ext cx="1905000" cy="2288100"/>
          </a:xfrm>
          <a:prstGeom prst="roundRect">
            <a:avLst>
              <a:gd fmla="val 3360" name="adj"/>
            </a:avLst>
          </a:prstGeom>
          <a:noFill/>
          <a:ln cap="flat" cmpd="sng" w="19050">
            <a:solidFill>
              <a:srgbClr val="2191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"/>
          <p:cNvSpPr/>
          <p:nvPr/>
        </p:nvSpPr>
        <p:spPr>
          <a:xfrm>
            <a:off x="6995433" y="1819745"/>
            <a:ext cx="960300" cy="231600"/>
          </a:xfrm>
          <a:prstGeom prst="roundRect">
            <a:avLst>
              <a:gd fmla="val 22119" name="adj"/>
            </a:avLst>
          </a:prstGeom>
          <a:solidFill>
            <a:srgbClr val="054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0"/>
          <p:cNvSpPr/>
          <p:nvPr/>
        </p:nvSpPr>
        <p:spPr>
          <a:xfrm>
            <a:off x="7086813" y="1865435"/>
            <a:ext cx="12348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DED6F3"/>
              </a:buClr>
              <a:buSzPts val="950"/>
              <a:buFont typeface="IBM Plex Sans"/>
              <a:buNone/>
            </a:pPr>
            <a:r>
              <a:rPr b="0" i="0" lang="en-US" sz="950" u="none" cap="none" strike="noStrike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CAMADA WEB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0"/>
          <p:cNvSpPr/>
          <p:nvPr/>
        </p:nvSpPr>
        <p:spPr>
          <a:xfrm>
            <a:off x="6995433" y="2171559"/>
            <a:ext cx="15240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Clr>
                <a:srgbClr val="F7F4FF"/>
              </a:buClr>
              <a:buSzPts val="1500"/>
              <a:buFont typeface="IBM Plex Sans SemiBold"/>
              <a:buNone/>
            </a:pPr>
            <a:r>
              <a:rPr b="0" i="0" lang="en-US" sz="1500" u="none" cap="none" strike="noStrike">
                <a:solidFill>
                  <a:srgbClr val="F7F4FF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Python, Flask e Jinja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0"/>
          <p:cNvSpPr/>
          <p:nvPr/>
        </p:nvSpPr>
        <p:spPr>
          <a:xfrm>
            <a:off x="6995433" y="2570217"/>
            <a:ext cx="15240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D6F3"/>
              </a:buClr>
              <a:buSzPts val="1200"/>
              <a:buFont typeface="IBM Plex Sans"/>
              <a:buNone/>
            </a:pPr>
            <a:r>
              <a:rPr lang="en-US" sz="1200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Integram os serviços, processam os dados e apresentam os resultados em uma interface web com dashboard interativo.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0"/>
          <p:cNvSpPr/>
          <p:nvPr/>
        </p:nvSpPr>
        <p:spPr>
          <a:xfrm>
            <a:off x="404125" y="4140600"/>
            <a:ext cx="55101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50">
                <a:solidFill>
                  <a:srgbClr val="F7F4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Cada tecnologia desempenha um papel específico na construção de uma análise integrada.</a:t>
            </a:r>
            <a:endParaRPr sz="950">
              <a:solidFill>
                <a:srgbClr val="F7F4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7F4FF"/>
              </a:buClr>
              <a:buSzPts val="950"/>
              <a:buFont typeface="IBM Plex Sans"/>
              <a:buNone/>
            </a:pPr>
            <a:r>
              <a:t/>
            </a:r>
            <a:endParaRPr sz="950">
              <a:solidFill>
                <a:srgbClr val="F7F4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2" name="Google Shape;132;p10"/>
          <p:cNvSpPr/>
          <p:nvPr/>
        </p:nvSpPr>
        <p:spPr>
          <a:xfrm>
            <a:off x="0" y="375025"/>
            <a:ext cx="6669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D6F3"/>
              </a:buClr>
              <a:buSzPts val="850"/>
              <a:buFont typeface="IBM Plex Sans"/>
              <a:buNone/>
            </a:pPr>
            <a:r>
              <a:rPr b="0" i="0" lang="en-US" sz="850" u="none" cap="none" strike="noStrike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7650" y="4546646"/>
            <a:ext cx="127635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24575" y="463524"/>
            <a:ext cx="1132799" cy="632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/>
          <p:nvPr/>
        </p:nvSpPr>
        <p:spPr>
          <a:xfrm>
            <a:off x="741975" y="345000"/>
            <a:ext cx="44769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2F5A8"/>
              </a:buClr>
              <a:buSzPts val="850"/>
              <a:buFont typeface="IBM Plex Sans SemiBold"/>
              <a:buNone/>
            </a:pPr>
            <a:r>
              <a:rPr b="0" i="0" lang="en-US" sz="850" u="none" cap="none" strike="noStrike">
                <a:solidFill>
                  <a:srgbClr val="62F5A8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SUSTENTABILIDADE &amp; ESCALA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875250" y="623575"/>
            <a:ext cx="4210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Clr>
                <a:srgbClr val="F7F4FF"/>
              </a:buClr>
              <a:buSzPts val="3050"/>
              <a:buFont typeface="Space Grotesk"/>
              <a:buNone/>
            </a:pPr>
            <a:r>
              <a:rPr b="1" i="0" lang="en-US" sz="3050" u="none" cap="none" strike="noStrike">
                <a:solidFill>
                  <a:srgbClr val="F7F4FF"/>
                </a:solidFill>
                <a:latin typeface="Space Grotesk"/>
                <a:ea typeface="Space Grotesk"/>
                <a:cs typeface="Space Grotesk"/>
                <a:sym typeface="Space Grotesk"/>
              </a:rPr>
              <a:t>Viável agora. Mais independente depois.</a:t>
            </a:r>
            <a:endParaRPr b="0" i="0" sz="3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1"/>
          <p:cNvSpPr/>
          <p:nvPr/>
        </p:nvSpPr>
        <p:spPr>
          <a:xfrm>
            <a:off x="875250" y="1517764"/>
            <a:ext cx="4210200" cy="1311300"/>
          </a:xfrm>
          <a:prstGeom prst="roundRect">
            <a:avLst>
              <a:gd fmla="val 4881" name="adj"/>
            </a:avLst>
          </a:prstGeom>
          <a:noFill/>
          <a:ln cap="flat" cmpd="sng" w="19050">
            <a:solidFill>
              <a:srgbClr val="2191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1"/>
          <p:cNvSpPr/>
          <p:nvPr/>
        </p:nvSpPr>
        <p:spPr>
          <a:xfrm>
            <a:off x="1065750" y="1714277"/>
            <a:ext cx="38292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Clr>
                <a:srgbClr val="F7F4FF"/>
              </a:buClr>
              <a:buSzPts val="1500"/>
              <a:buFont typeface="IBM Plex Sans SemiBold"/>
              <a:buNone/>
            </a:pPr>
            <a:r>
              <a:rPr b="0" i="0" lang="en-US" sz="1500" u="none" cap="none" strike="noStrike">
                <a:solidFill>
                  <a:srgbClr val="F7F4FF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Protótipo com custos reduzidos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1065750" y="2007781"/>
            <a:ext cx="38292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D6F3"/>
              </a:buClr>
              <a:buSzPts val="1200"/>
              <a:buFont typeface="IBM Plex Sans"/>
              <a:buNone/>
            </a:pPr>
            <a:r>
              <a:rPr lang="en-US" sz="1200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Utiliza serviços acessíveis para acelerar o desenvolvimento, validar a solução e demonstrar seu potencial com baixo custo operacional.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1"/>
          <p:cNvSpPr/>
          <p:nvPr/>
        </p:nvSpPr>
        <p:spPr>
          <a:xfrm>
            <a:off x="875250" y="3057763"/>
            <a:ext cx="4210200" cy="1311300"/>
          </a:xfrm>
          <a:prstGeom prst="roundRect">
            <a:avLst>
              <a:gd fmla="val 4881" name="adj"/>
            </a:avLst>
          </a:prstGeom>
          <a:noFill/>
          <a:ln cap="flat" cmpd="sng" w="19050">
            <a:solidFill>
              <a:srgbClr val="2191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1"/>
          <p:cNvSpPr/>
          <p:nvPr/>
        </p:nvSpPr>
        <p:spPr>
          <a:xfrm>
            <a:off x="1065750" y="3254276"/>
            <a:ext cx="38292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Clr>
                <a:srgbClr val="F7F4FF"/>
              </a:buClr>
              <a:buSzPts val="1500"/>
              <a:buFont typeface="IBM Plex Sans SemiBold"/>
              <a:buNone/>
            </a:pPr>
            <a:r>
              <a:rPr b="0" i="0" lang="en-US" sz="1500" u="none" cap="none" strike="noStrike">
                <a:solidFill>
                  <a:srgbClr val="F7F4FF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Próximos passos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1065750" y="3547780"/>
            <a:ext cx="38292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Expandir a validação com pesquisadores, aprimorar a identificação de autorias, ampliar a cobertura da base de dados e fortalecer os recursos de compartilhamento.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0" y="123825"/>
            <a:ext cx="666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D6F3"/>
              </a:buClr>
              <a:buSzPts val="850"/>
              <a:buFont typeface="IBM Plex Sans"/>
              <a:buNone/>
            </a:pPr>
            <a:r>
              <a:rPr b="0" i="0" lang="en-US" sz="850" u="none" cap="none" strike="noStrike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26400" y="4618062"/>
            <a:ext cx="1117598" cy="5254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9725" y="442674"/>
            <a:ext cx="1132799" cy="632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3400" y="1614800"/>
            <a:ext cx="2280175" cy="228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"/>
          <p:cNvSpPr/>
          <p:nvPr/>
        </p:nvSpPr>
        <p:spPr>
          <a:xfrm>
            <a:off x="749475" y="1082484"/>
            <a:ext cx="49530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2F5A8"/>
              </a:buClr>
              <a:buSzPts val="850"/>
              <a:buFont typeface="IBM Plex Sans SemiBold"/>
              <a:buNone/>
            </a:pPr>
            <a:r>
              <a:rPr b="0" i="0" lang="en-US" sz="850" u="none" cap="none" strike="noStrike">
                <a:solidFill>
                  <a:srgbClr val="62F5A8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CONCLUSÃO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2"/>
          <p:cNvSpPr/>
          <p:nvPr/>
        </p:nvSpPr>
        <p:spPr>
          <a:xfrm>
            <a:off x="749475" y="1302080"/>
            <a:ext cx="44958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7F4FF"/>
              </a:buClr>
              <a:buSzPts val="3550"/>
              <a:buFont typeface="Space Grotesk"/>
              <a:buNone/>
            </a:pPr>
            <a:r>
              <a:rPr b="1" i="0" lang="en-US" sz="3550" u="none" cap="none" strike="noStrike">
                <a:solidFill>
                  <a:srgbClr val="F7F4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 Citadelas não escolhe por você.</a:t>
            </a:r>
            <a:endParaRPr b="0" i="0" sz="3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62F5A8"/>
              </a:buClr>
              <a:buSzPts val="3550"/>
              <a:buFont typeface="Space Grotesk"/>
              <a:buNone/>
            </a:pPr>
            <a:r>
              <a:rPr b="1" i="0" lang="en-US" sz="3550" u="none" cap="none" strike="noStrike">
                <a:solidFill>
                  <a:srgbClr val="62F5A8"/>
                </a:solidFill>
                <a:latin typeface="Space Grotesk"/>
                <a:ea typeface="Space Grotesk"/>
                <a:cs typeface="Space Grotesk"/>
                <a:sym typeface="Space Grotesk"/>
              </a:rPr>
              <a:t>Ele revela o que estava invisível.</a:t>
            </a:r>
            <a:endParaRPr b="0" i="0" sz="3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2"/>
          <p:cNvSpPr/>
          <p:nvPr/>
        </p:nvSpPr>
        <p:spPr>
          <a:xfrm>
            <a:off x="749475" y="3365433"/>
            <a:ext cx="4495800" cy="13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D6F3"/>
              </a:buClr>
              <a:buSzPts val="1400"/>
              <a:buFont typeface="IBM Plex Sans"/>
              <a:buNone/>
            </a:pPr>
            <a:r>
              <a:rPr lang="en-US" sz="1200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Quantas pesquisas relevantes feitas por mulheres incríveis deixamos de conhecer porque eram menos visíveis?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50"/>
              </a:spcBef>
              <a:spcAft>
                <a:spcPts val="0"/>
              </a:spcAft>
              <a:buClr>
                <a:srgbClr val="DED6F3"/>
              </a:buClr>
              <a:buSzPts val="1400"/>
              <a:buFont typeface="IBM Plex Sans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2"/>
          <p:cNvSpPr/>
          <p:nvPr/>
        </p:nvSpPr>
        <p:spPr>
          <a:xfrm>
            <a:off x="749475" y="3904289"/>
            <a:ext cx="835800" cy="231600"/>
          </a:xfrm>
          <a:prstGeom prst="roundRect">
            <a:avLst>
              <a:gd fmla="val 22119" name="adj"/>
            </a:avLst>
          </a:prstGeom>
          <a:solidFill>
            <a:srgbClr val="0548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2"/>
          <p:cNvSpPr/>
          <p:nvPr/>
        </p:nvSpPr>
        <p:spPr>
          <a:xfrm>
            <a:off x="840855" y="3949979"/>
            <a:ext cx="11103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DED6F3"/>
              </a:buClr>
              <a:buSzPts val="950"/>
              <a:buFont typeface="IBM Plex Sans"/>
              <a:buNone/>
            </a:pPr>
            <a:r>
              <a:rPr b="0" i="0" lang="en-US" sz="950" u="none" cap="none" strike="noStrike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OBRIGADO</a:t>
            </a:r>
            <a:r>
              <a:rPr lang="en-US" sz="950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2"/>
          <p:cNvSpPr/>
          <p:nvPr/>
        </p:nvSpPr>
        <p:spPr>
          <a:xfrm>
            <a:off x="1407393" y="4450854"/>
            <a:ext cx="24762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62F5A8"/>
              </a:buClr>
              <a:buSzPts val="950"/>
              <a:buFont typeface="IBM Plex Sans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7645" y="4543413"/>
            <a:ext cx="127635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3500" y="1655075"/>
            <a:ext cx="341034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"/>
          <p:cNvSpPr/>
          <p:nvPr/>
        </p:nvSpPr>
        <p:spPr>
          <a:xfrm>
            <a:off x="599975" y="581834"/>
            <a:ext cx="49530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2F5A8"/>
              </a:buClr>
              <a:buSzPts val="850"/>
              <a:buFont typeface="IBM Plex Sans SemiBold"/>
              <a:buNone/>
            </a:pPr>
            <a:r>
              <a:rPr lang="en-US" sz="950">
                <a:solidFill>
                  <a:srgbClr val="62F5A8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REFERÊNCIAS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3"/>
          <p:cNvSpPr/>
          <p:nvPr/>
        </p:nvSpPr>
        <p:spPr>
          <a:xfrm>
            <a:off x="495300" y="726430"/>
            <a:ext cx="44958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62F5A8"/>
              </a:buClr>
              <a:buSzPts val="3550"/>
              <a:buFont typeface="Space Grotesk"/>
              <a:buNone/>
            </a:pPr>
            <a:r>
              <a:t/>
            </a:r>
            <a:endParaRPr b="0" i="0" sz="3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3"/>
          <p:cNvSpPr/>
          <p:nvPr/>
        </p:nvSpPr>
        <p:spPr>
          <a:xfrm>
            <a:off x="495300" y="2789783"/>
            <a:ext cx="4495800" cy="13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50"/>
              </a:spcBef>
              <a:spcAft>
                <a:spcPts val="0"/>
              </a:spcAft>
              <a:buClr>
                <a:srgbClr val="DED6F3"/>
              </a:buClr>
              <a:buSzPts val="1400"/>
              <a:buFont typeface="IBM Plex San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3"/>
          <p:cNvSpPr/>
          <p:nvPr/>
        </p:nvSpPr>
        <p:spPr>
          <a:xfrm>
            <a:off x="1407393" y="4450854"/>
            <a:ext cx="24762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62F5A8"/>
              </a:buClr>
              <a:buSzPts val="950"/>
              <a:buFont typeface="IBM Plex Sans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7645" y="4543413"/>
            <a:ext cx="1276350" cy="600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3"/>
          <p:cNvSpPr txBox="1"/>
          <p:nvPr/>
        </p:nvSpPr>
        <p:spPr>
          <a:xfrm>
            <a:off x="530800" y="793709"/>
            <a:ext cx="3000000" cy="6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2F5A8"/>
              </a:buClr>
              <a:buSzPts val="850"/>
              <a:buFont typeface="IBM Plex Sans SemiBold"/>
              <a:buNone/>
            </a:pPr>
            <a:r>
              <a:rPr lang="en-US" sz="85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1. Efeito Matilda — Rossiter (1993)</a:t>
            </a:r>
            <a:endParaRPr sz="850">
              <a:solidFill>
                <a:schemeClr val="lt1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2F5A8"/>
              </a:buClr>
              <a:buSzPts val="850"/>
              <a:buFont typeface="IBM Plex Sans SemiBold"/>
              <a:buNone/>
            </a:pPr>
            <a:r>
              <a:rPr lang="en-US" sz="85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The Matthew Matilda Effect in Science.</a:t>
            </a:r>
            <a:endParaRPr sz="850">
              <a:solidFill>
                <a:schemeClr val="lt1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2F5A8"/>
              </a:buClr>
              <a:buSzPts val="850"/>
              <a:buFont typeface="IBM Plex Sans SemiBold"/>
              <a:buNone/>
            </a:pPr>
            <a:r>
              <a:rPr lang="en-US" sz="85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Social Studies of Science, v. 23, n. 2, p. 325–341.</a:t>
            </a:r>
            <a:endParaRPr sz="850">
              <a:solidFill>
                <a:schemeClr val="lt1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176" name="Google Shape;176;p13"/>
          <p:cNvSpPr txBox="1"/>
          <p:nvPr/>
        </p:nvSpPr>
        <p:spPr>
          <a:xfrm>
            <a:off x="530800" y="1342925"/>
            <a:ext cx="28728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2. Concentração de citações — Ioannidis et al. (2023)</a:t>
            </a:r>
            <a:endParaRPr sz="850">
              <a:solidFill>
                <a:schemeClr val="lt1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Gender imbalances among top-cited scientists across scientific disciplines over time through the analysis of nearly 5.8 million authors.</a:t>
            </a:r>
            <a:endParaRPr sz="850">
              <a:solidFill>
                <a:schemeClr val="lt1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PLOS Biology, v. 21, n. 11, e3002385.</a:t>
            </a:r>
            <a:endParaRPr sz="850">
              <a:solidFill>
                <a:schemeClr val="lt1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177" name="Google Shape;177;p13"/>
          <p:cNvSpPr txBox="1"/>
          <p:nvPr/>
        </p:nvSpPr>
        <p:spPr>
          <a:xfrm>
            <a:off x="530800" y="2217613"/>
            <a:ext cx="30000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3. Diferenças nas citações médicas — Chatterjee e Werner (2021)</a:t>
            </a:r>
            <a:endParaRPr sz="850">
              <a:solidFill>
                <a:schemeClr val="lt1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Gender Disparity in Citations in High-Impact Journal Articles.</a:t>
            </a:r>
            <a:endParaRPr sz="850">
              <a:solidFill>
                <a:schemeClr val="lt1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JAMA Network Open, v. 4, n. 7, e2114509.</a:t>
            </a:r>
            <a:endParaRPr sz="850">
              <a:solidFill>
                <a:schemeClr val="lt1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178" name="Google Shape;178;p13"/>
          <p:cNvSpPr txBox="1"/>
          <p:nvPr/>
        </p:nvSpPr>
        <p:spPr>
          <a:xfrm>
            <a:off x="530800" y="3135025"/>
            <a:ext cx="3000000" cy="9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4. Influência do pioneirismo — Kong, Martin-Gutierrez e Karimi (2022)</a:t>
            </a:r>
            <a:endParaRPr sz="850">
              <a:solidFill>
                <a:schemeClr val="lt1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Influence of the first-mover advantage on the gender disparities in physics citations.</a:t>
            </a:r>
            <a:endParaRPr sz="850">
              <a:solidFill>
                <a:schemeClr val="lt1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Communications Physics, v. 5, artigo 243.</a:t>
            </a:r>
            <a:endParaRPr sz="850">
              <a:solidFill>
                <a:schemeClr val="lt1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pic>
        <p:nvPicPr>
          <p:cNvPr id="179" name="Google Shape;17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9725" y="442674"/>
            <a:ext cx="1132799" cy="63253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3"/>
          <p:cNvSpPr txBox="1"/>
          <p:nvPr/>
        </p:nvSpPr>
        <p:spPr>
          <a:xfrm>
            <a:off x="5405175" y="745100"/>
            <a:ext cx="2661600" cy="6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5. StatNews. Disponível em: https://www.statnews.com/2019/04/23/500-women-scientists-q-and-a/</a:t>
            </a:r>
            <a:endParaRPr sz="850">
              <a:solidFill>
                <a:schemeClr val="lt1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181" name="Google Shape;181;p13"/>
          <p:cNvSpPr/>
          <p:nvPr/>
        </p:nvSpPr>
        <p:spPr>
          <a:xfrm>
            <a:off x="5448300" y="581825"/>
            <a:ext cx="6156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2F5A8"/>
              </a:buClr>
              <a:buSzPts val="850"/>
              <a:buFont typeface="IBM Plex Sans SemiBold"/>
              <a:buNone/>
            </a:pPr>
            <a:r>
              <a:rPr lang="en-US" sz="950">
                <a:solidFill>
                  <a:srgbClr val="62F5A8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IMAGENS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"/>
          <p:cNvSpPr/>
          <p:nvPr/>
        </p:nvSpPr>
        <p:spPr>
          <a:xfrm>
            <a:off x="419100" y="323850"/>
            <a:ext cx="8724900" cy="144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2F5A8"/>
              </a:buClr>
              <a:buSzPts val="850"/>
              <a:buFont typeface="IBM Plex Sans SemiBold"/>
              <a:buNone/>
            </a:pPr>
            <a:r>
              <a:rPr b="0" i="0" lang="en-US" sz="850" u="none" cap="none" strike="noStrike">
                <a:solidFill>
                  <a:srgbClr val="62F5A8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FLUXO DE EXPERIÊNCIA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4"/>
          <p:cNvSpPr/>
          <p:nvPr/>
        </p:nvSpPr>
        <p:spPr>
          <a:xfrm>
            <a:off x="419100" y="548625"/>
            <a:ext cx="8305800" cy="760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Clr>
                <a:srgbClr val="F7F4FF"/>
              </a:buClr>
              <a:buSzPts val="3050"/>
              <a:buFont typeface="Space Grotesk"/>
              <a:buNone/>
            </a:pPr>
            <a:r>
              <a:rPr b="1" i="0" lang="en-US" sz="3050" u="none" cap="none" strike="noStrike">
                <a:solidFill>
                  <a:srgbClr val="F7F4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Do trecho ao artigo, com decisão transparente</a:t>
            </a:r>
            <a:endParaRPr b="0" i="0" sz="3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4"/>
          <p:cNvSpPr/>
          <p:nvPr/>
        </p:nvSpPr>
        <p:spPr>
          <a:xfrm>
            <a:off x="419100" y="1480914"/>
            <a:ext cx="1905000" cy="2240979"/>
          </a:xfrm>
          <a:prstGeom prst="roundRect">
            <a:avLst>
              <a:gd fmla="val 3360" name="adj"/>
            </a:avLst>
          </a:prstGeom>
          <a:noFill/>
          <a:ln cap="flat" cmpd="sng" w="19050">
            <a:solidFill>
              <a:srgbClr val="2191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4"/>
          <p:cNvSpPr/>
          <p:nvPr/>
        </p:nvSpPr>
        <p:spPr>
          <a:xfrm>
            <a:off x="609600" y="1671414"/>
            <a:ext cx="64011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62F5A8"/>
              </a:buClr>
              <a:buSzPts val="1200"/>
              <a:buFont typeface="IBM Plex Sans SemiBold"/>
              <a:buNone/>
            </a:pPr>
            <a:r>
              <a:rPr b="0" i="0" lang="en-US" sz="1200" u="none" cap="none" strike="noStrike">
                <a:solidFill>
                  <a:srgbClr val="62F5A8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4"/>
          <p:cNvSpPr/>
          <p:nvPr/>
        </p:nvSpPr>
        <p:spPr>
          <a:xfrm>
            <a:off x="609600" y="1884759"/>
            <a:ext cx="1523926" cy="14288"/>
          </a:xfrm>
          <a:prstGeom prst="rect">
            <a:avLst/>
          </a:prstGeom>
          <a:solidFill>
            <a:srgbClr val="62F5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4"/>
          <p:cNvSpPr/>
          <p:nvPr/>
        </p:nvSpPr>
        <p:spPr>
          <a:xfrm>
            <a:off x="609600" y="1996440"/>
            <a:ext cx="1524000" cy="189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Clr>
                <a:srgbClr val="F7F4FF"/>
              </a:buClr>
              <a:buSzPts val="1500"/>
              <a:buFont typeface="IBM Plex Sans SemiBold"/>
              <a:buNone/>
            </a:pPr>
            <a:r>
              <a:rPr b="0" i="0" lang="en-US" sz="1500" u="none" cap="none" strike="noStrike">
                <a:solidFill>
                  <a:srgbClr val="F7F4FF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Inserir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4"/>
          <p:cNvSpPr/>
          <p:nvPr/>
        </p:nvSpPr>
        <p:spPr>
          <a:xfrm>
            <a:off x="609600" y="2289944"/>
            <a:ext cx="1524000" cy="8411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D6F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Resumo, trecho ou descrição do problema de pesquisa.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4"/>
          <p:cNvSpPr/>
          <p:nvPr/>
        </p:nvSpPr>
        <p:spPr>
          <a:xfrm>
            <a:off x="2552700" y="1480914"/>
            <a:ext cx="1905000" cy="2240979"/>
          </a:xfrm>
          <a:prstGeom prst="roundRect">
            <a:avLst>
              <a:gd fmla="val 3360" name="adj"/>
            </a:avLst>
          </a:prstGeom>
          <a:noFill/>
          <a:ln cap="flat" cmpd="sng" w="19050">
            <a:solidFill>
              <a:srgbClr val="2191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4"/>
          <p:cNvSpPr/>
          <p:nvPr/>
        </p:nvSpPr>
        <p:spPr>
          <a:xfrm>
            <a:off x="2743200" y="1671414"/>
            <a:ext cx="64011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62F5A8"/>
              </a:buClr>
              <a:buSzPts val="1200"/>
              <a:buFont typeface="IBM Plex Sans SemiBold"/>
              <a:buNone/>
            </a:pPr>
            <a:r>
              <a:rPr b="0" i="0" lang="en-US" sz="1200" u="none" cap="none" strike="noStrike">
                <a:solidFill>
                  <a:srgbClr val="62F5A8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4"/>
          <p:cNvSpPr/>
          <p:nvPr/>
        </p:nvSpPr>
        <p:spPr>
          <a:xfrm>
            <a:off x="2743200" y="1884759"/>
            <a:ext cx="1523926" cy="14288"/>
          </a:xfrm>
          <a:prstGeom prst="rect">
            <a:avLst/>
          </a:prstGeom>
          <a:solidFill>
            <a:srgbClr val="62F5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4"/>
          <p:cNvSpPr/>
          <p:nvPr/>
        </p:nvSpPr>
        <p:spPr>
          <a:xfrm>
            <a:off x="2743200" y="1996440"/>
            <a:ext cx="1524000" cy="379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Clr>
                <a:srgbClr val="F7F4FF"/>
              </a:buClr>
              <a:buSzPts val="1500"/>
              <a:buFont typeface="IBM Plex Sans SemiBold"/>
              <a:buNone/>
            </a:pPr>
            <a:r>
              <a:rPr b="0" i="0" lang="en-US" sz="1500" u="none" cap="none" strike="noStrike">
                <a:solidFill>
                  <a:srgbClr val="F7F4FF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Buscar no OpenAlex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4"/>
          <p:cNvSpPr/>
          <p:nvPr/>
        </p:nvSpPr>
        <p:spPr>
          <a:xfrm>
            <a:off x="2743200" y="2479923"/>
            <a:ext cx="1524000" cy="630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D6F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Metadados de artigos, incluindo citações e afiliações.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4"/>
          <p:cNvSpPr/>
          <p:nvPr/>
        </p:nvSpPr>
        <p:spPr>
          <a:xfrm>
            <a:off x="4686300" y="1480914"/>
            <a:ext cx="1905000" cy="2240979"/>
          </a:xfrm>
          <a:prstGeom prst="roundRect">
            <a:avLst>
              <a:gd fmla="val 3360" name="adj"/>
            </a:avLst>
          </a:prstGeom>
          <a:noFill/>
          <a:ln cap="flat" cmpd="sng" w="19050">
            <a:solidFill>
              <a:srgbClr val="2191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4"/>
          <p:cNvSpPr/>
          <p:nvPr/>
        </p:nvSpPr>
        <p:spPr>
          <a:xfrm>
            <a:off x="4876800" y="1671414"/>
            <a:ext cx="64011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62F5A8"/>
              </a:buClr>
              <a:buSzPts val="1200"/>
              <a:buFont typeface="IBM Plex Sans SemiBold"/>
              <a:buNone/>
            </a:pPr>
            <a:r>
              <a:rPr b="0" i="0" lang="en-US" sz="1200" u="none" cap="none" strike="noStrike">
                <a:solidFill>
                  <a:srgbClr val="62F5A8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4"/>
          <p:cNvSpPr/>
          <p:nvPr/>
        </p:nvSpPr>
        <p:spPr>
          <a:xfrm>
            <a:off x="4876800" y="1884759"/>
            <a:ext cx="1523926" cy="14288"/>
          </a:xfrm>
          <a:prstGeom prst="rect">
            <a:avLst/>
          </a:prstGeom>
          <a:solidFill>
            <a:srgbClr val="62F5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4"/>
          <p:cNvSpPr/>
          <p:nvPr/>
        </p:nvSpPr>
        <p:spPr>
          <a:xfrm>
            <a:off x="4876800" y="1996440"/>
            <a:ext cx="1524000" cy="379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Clr>
                <a:srgbClr val="F7F4FF"/>
              </a:buClr>
              <a:buSzPts val="1500"/>
              <a:buFont typeface="IBM Plex Sans SemiBold"/>
              <a:buNone/>
            </a:pPr>
            <a:r>
              <a:rPr b="0" i="0" lang="en-US" sz="1500" u="none" cap="none" strike="noStrike">
                <a:solidFill>
                  <a:srgbClr val="F7F4FF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Processar autoria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4"/>
          <p:cNvSpPr/>
          <p:nvPr/>
        </p:nvSpPr>
        <p:spPr>
          <a:xfrm>
            <a:off x="4876800" y="2479923"/>
            <a:ext cx="1524000" cy="1051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D6F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Estimativa probabilística a partir do nome, com incertezas explicitadas.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4"/>
          <p:cNvSpPr/>
          <p:nvPr/>
        </p:nvSpPr>
        <p:spPr>
          <a:xfrm>
            <a:off x="6819900" y="1480914"/>
            <a:ext cx="1905000" cy="2240979"/>
          </a:xfrm>
          <a:prstGeom prst="roundRect">
            <a:avLst>
              <a:gd fmla="val 3360" name="adj"/>
            </a:avLst>
          </a:prstGeom>
          <a:noFill/>
          <a:ln cap="flat" cmpd="sng" w="19050">
            <a:solidFill>
              <a:srgbClr val="2191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4"/>
          <p:cNvSpPr/>
          <p:nvPr/>
        </p:nvSpPr>
        <p:spPr>
          <a:xfrm>
            <a:off x="7010400" y="1671414"/>
            <a:ext cx="64011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62F5A8"/>
              </a:buClr>
              <a:buSzPts val="1200"/>
              <a:buFont typeface="IBM Plex Sans SemiBold"/>
              <a:buNone/>
            </a:pPr>
            <a:r>
              <a:rPr b="0" i="0" lang="en-US" sz="1200" u="none" cap="none" strike="noStrike">
                <a:solidFill>
                  <a:srgbClr val="62F5A8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4"/>
          <p:cNvSpPr/>
          <p:nvPr/>
        </p:nvSpPr>
        <p:spPr>
          <a:xfrm>
            <a:off x="7010400" y="1884759"/>
            <a:ext cx="1523926" cy="14288"/>
          </a:xfrm>
          <a:prstGeom prst="rect">
            <a:avLst/>
          </a:prstGeom>
          <a:solidFill>
            <a:srgbClr val="62F5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4"/>
          <p:cNvSpPr/>
          <p:nvPr/>
        </p:nvSpPr>
        <p:spPr>
          <a:xfrm>
            <a:off x="7010400" y="1996440"/>
            <a:ext cx="1524000" cy="379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9000"/>
              </a:lnSpc>
              <a:spcBef>
                <a:spcPts val="0"/>
              </a:spcBef>
              <a:spcAft>
                <a:spcPts val="0"/>
              </a:spcAft>
              <a:buClr>
                <a:srgbClr val="F7F4FF"/>
              </a:buClr>
              <a:buSzPts val="1500"/>
              <a:buFont typeface="IBM Plex Sans SemiBold"/>
              <a:buNone/>
            </a:pPr>
            <a:r>
              <a:rPr b="0" i="0" lang="en-US" sz="1500" u="none" cap="none" strike="noStrike">
                <a:solidFill>
                  <a:srgbClr val="F7F4FF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Comparar e decidir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4"/>
          <p:cNvSpPr/>
          <p:nvPr/>
        </p:nvSpPr>
        <p:spPr>
          <a:xfrm>
            <a:off x="7010400" y="2479923"/>
            <a:ext cx="1524000" cy="8411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D6F3"/>
              </a:buClr>
              <a:buSzPts val="1200"/>
              <a:buFont typeface="IBM Plex Sans"/>
              <a:buNone/>
            </a:pPr>
            <a:r>
              <a:rPr b="0" i="0" lang="en-US" sz="1200" u="none" cap="none" strike="noStrike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O Gemini relaciona os textos por tema; a decisão final é do pesquisador.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4"/>
          <p:cNvSpPr/>
          <p:nvPr/>
        </p:nvSpPr>
        <p:spPr>
          <a:xfrm>
            <a:off x="419100" y="3950494"/>
            <a:ext cx="8724900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7F4FF"/>
              </a:buClr>
              <a:buSzPts val="950"/>
              <a:buFont typeface="IBM Plex Sans"/>
              <a:buNone/>
            </a:pPr>
            <a:r>
              <a:rPr b="0" i="0" lang="en-US" sz="950" u="none" cap="none" strike="noStrike">
                <a:solidFill>
                  <a:srgbClr val="F7F4FF"/>
                </a:solidFill>
                <a:latin typeface="IBM Plex Sans"/>
                <a:ea typeface="IBM Plex Sans"/>
                <a:cs typeface="IBM Plex Sans"/>
                <a:sym typeface="IBM Plex Sans"/>
              </a:rPr>
              <a:t>Demonstração: IA na educação, com aprendizagem, inclusão, personalização e tecnologias educacionais.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4"/>
          <p:cNvSpPr/>
          <p:nvPr/>
        </p:nvSpPr>
        <p:spPr>
          <a:xfrm>
            <a:off x="0" y="123825"/>
            <a:ext cx="666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ED6F3"/>
              </a:buClr>
              <a:buSzPts val="850"/>
              <a:buFont typeface="IBM Plex Sans"/>
              <a:buNone/>
            </a:pPr>
            <a:r>
              <a:rPr b="0" i="0" lang="en-US" sz="850" u="none" cap="none" strike="noStrike">
                <a:solidFill>
                  <a:srgbClr val="DED6F3"/>
                </a:solidFill>
                <a:latin typeface="IBM Plex Sans"/>
                <a:ea typeface="IBM Plex Sans"/>
                <a:cs typeface="IBM Plex Sans"/>
                <a:sym typeface="IBM Plex Sans"/>
              </a:rPr>
              <a:t>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7650" y="4543425"/>
            <a:ext cx="127635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9725" y="442674"/>
            <a:ext cx="1132799" cy="632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